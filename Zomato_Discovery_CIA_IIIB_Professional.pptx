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evaluators. Today I present our Business Intelligence case study for Zomato. We address a major platform challenge: consumer choice overload and search abandonment. We have built an end-to-end data warehousing and BI solution featuring automated Python ETL, a Kimball Star Schema, and an interactive Tableau Public relevance ranking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Slide 2, we expose the business crisis. Default sorting creates the Popularity Trap: sorting by review volume surfaces expensive legacy chains averaging ₹1,470, and 70% of them cannot deliver food home. Meanwhile, 194 hidden gems with high ratings and 53.6% delivery readiness remain invisible on page 10. This drives consumer drop-off and hurts new merchant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explains our data scope. Out of 9,551 global records, 90.6% are in India, and 91.6% of Indian listings are in Delhi-NCR. Focusing on Delhi-NCR gives us 7,947 restaurants with 100% currency homogeneity in INR, avoiding currency conversion distortions, and provides an exceptionally dense urban micro-market of 242 localities.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addresses the ETL rubric criterion. We highlight 6 concrete data quality engineering steps. We imputed missing cuisines and zero costs using hierarchical medians. Most importantly, we did NOT delete 2,139 unrated restaurants—we flagged them with an Is_Rated dimension to preserve cold-start onboarding while keeping our active rating mean unpolluted at 3.28 stars. We also log-transformed votes to handle the extreme power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presents our Kimball Star Schema. In the center is FACT_RESTAURANT_PERFORMANCE with a grain of 1 row per physical outlet profile. It connects via surrogate keys to 6 conformed dimensions: Restaurant, Location, Cuisine, Service Profile, Price Tier, and Segment. This dimensional architecture gives us sub-second OLAP query performance and eliminates expensive runtime joins in Tableau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explains our mathematical scoring model. All 4 dimensions are normalized to a 0 to 100 scale. Budget fit uses a continuous piecewise linear penalty function: 100 points within budget, smoothly penalized up to 2x budget, and 0 points beyond. Users can adjust weights using 4 pre-calibrated persona presets: Balanced, Gourmet, Budget Hunter, and Delivery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shows Dashboard 1 in Tableau Public. At the top, executive BAN cards establish our market baseline: 7,947 restaurants, a median dining cost of ₹450, and 842,000 total review votes. The dual-axis map layers restaurant pins over density polygons, and the cuisine treemap shows North Indian dominating at 34.7%. Clicking any cuisine cross-filters the entire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presents Dashboard 2: Strategic Segmentation using Fixed LOD expressions from Lab 7.2. The scatter plot splits venues into 4 quadrants. Crucially, we identify 194 Hidden Gems—restaurants with ratings &gt;= 4.0 but fewer than 200 reviews. Notice they have 53.6% delivery readiness at half the price of market leaders. They are heavily clustered in Rajouri Garden, GK-1, and Shahpur Jat.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demonstrates Dashboard 3: the Personalized Ranking Simulator. Diners can adjust the budget slider, rating cutoff, and persona presets. The ranked table updates instantly using RANK_UNIQUE table calculations. The stacked bar chart decomposes the score into Quality, Popularity, Budget, and Service points, ensuring complete explainability.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delivers our empirical validation and business ROI. Under an ₹800 budget simulation, our relevance framework reduces top 10 average cost from ₹1,470 down to ₹515—a 64.9% savings—while boosting delivery readiness from 30% to 100% and maintaining an elite 4.28 rating. We propose 4 actionable recommendations: multi-slider search, hidden gem carousels, intent-decoupled feeds, and value badging.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our final slide, we summarize our achievements across the CIA IIIB rubric. We honestly disclose dataset boundaries: it is a cross-sectional snapshot without clickstream logs. Finally, we are fully prepared for viva questions covering our fact grain, logarithmic scaling, Fixed LOD calculations, and Star Schema design. Thank you, and I look forward to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  <a:latin typeface="Calibri"/>
              </a:defRPr>
            </a:pPr>
            <a:r>
              <a:t>DATA SCIENCE &amp; AI · CIA IIIB CASE STUDY &amp; VIVA DEFENSE</a:t>
            </a:r>
          </a:p>
          <a:p>
            <a:pPr>
              <a:spcBef>
                <a:spcPts val="800"/>
              </a:spcBef>
              <a:defRPr sz="3600" b="1">
                <a:solidFill>
                  <a:srgbClr val="0F172A"/>
                </a:solidFill>
                <a:latin typeface="Calibri"/>
              </a:defRPr>
            </a:pPr>
            <a:r>
              <a:t>Beyond the 5-Star Trap</a:t>
            </a:r>
          </a:p>
          <a:p>
            <a:pPr>
              <a:spcBef>
                <a:spcPts val="400"/>
              </a:spcBef>
              <a:defRPr sz="1900" b="1">
                <a:solidFill>
                  <a:srgbClr val="0284C7"/>
                </a:solidFill>
                <a:latin typeface="Calibri"/>
              </a:defRPr>
            </a:pPr>
            <a:r>
              <a:t>A Multi-Criteria Restaurant Discovery &amp; Relevance System on Zomato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Solving Consumer Choice Overload using Kimball Dimensional Modeling, Automated ETL, and Tableau Interactive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ACADEMIC &amp; ENTERPRISE METADATA: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Target Enterprise: Zomato Limited (NSE: ZOMATO / Eternal Ltd.) | Market: Delhi-NCR (N = 7,947 Restaurants)</a:t>
            </a:r>
            <a:br/>
            <a:r>
              <a:t>• Technical Core: Ralph Kimball Star Schema, 6 Conformed Dimensions, Multi-Dimensional OLAP Cubes</a:t>
            </a:r>
            <a:br/>
            <a:r>
              <a:t>• Dashboard Platform: Tableau Public (1366x768 Fixed Resolution, 3 Linked Executive Dashboards)</a:t>
            </a:r>
            <a:br/>
            <a:r>
              <a:t>• Candidate / Team: Vaibhav (B.Sc Data Science &amp; AI) | Evaluation Weightage: 20 Marks (Maximum Tier)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E11D48"/>
                </a:solidFill>
                <a:latin typeface="Calibri"/>
              </a:defRPr>
            </a:pPr>
            <a:r>
              <a:t>02 · BUSINESS PROBLEM &amp; CHOICE OVERLOAD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Why Single-Attribute Sorting Fails Diners and Merchants in Hyperlocal Dining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81328"/>
            <a:ext cx="47914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1. THE BEHAVIORAL DILEMMA (PARADOX OF CHOICE)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• The Paradox of Choice (Schwartz, 2004; Iyengar &amp; Lepper, 2000):</a:t>
            </a:r>
            <a:br/>
            <a:r>
              <a:t>  In high-density markets like Delhi-NCR, users face 7,947 restaurants. Classical economics assumes more choice is better; in reality, excessive choice causes decision fatigue, severe search friction, and app session abandonment.</a:t>
            </a:r>
            <a:br/>
            <a:br/>
            <a:r>
              <a:t>• The Dual-Sided Marketplace Dilemma:</a:t>
            </a:r>
            <a:br/>
            <a:r>
              <a:t>  - Consumers: Default to basic sorting (popularity or rating) to reduce cognitive strain, missing truly relevant food.</a:t>
            </a:r>
            <a:br/>
            <a:r>
              <a:t>  - Merchants: Independent quality venues cannot compete with legacy chains' historical review volume, causing merchant churn.</a:t>
            </a:r>
            <a:br/>
            <a:br/>
            <a:r>
              <a:t>• Core Research Question:</a:t>
            </a:r>
            <a:br/>
            <a:r>
              <a:t>  How can Zomato transition from one-dimensional popularity sorting to a transparent, multi-criteria decision-support framework?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481328"/>
            <a:ext cx="49743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2. THREE SEVERE MARKET FAILURE MODES OF 1D SORTING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1. THE POPULARITY TRAP (Sort by Total Votes):</a:t>
            </a:r>
            <a:br/>
            <a:r>
              <a:t>   - Review votes follow a brutal power-law: median is only 19 votes, while top 1% have up to 7,931 votes.</a:t>
            </a:r>
            <a:br/>
            <a:r>
              <a:t>   - Sorting by votes promotes expensive legacy chains (mean cost ₹1,470 for two vs. ₹450 median).</a:t>
            </a:r>
            <a:br/>
            <a:r>
              <a:t>   - Critical Failure: 70% of the top 10 most-voted restaurants DO NOT offer online home delivery!</a:t>
            </a:r>
            <a:br/>
            <a:br/>
            <a:r>
              <a:t>2. THE 5-STAR FALLACY (Sort Strictly by Rating):</a:t>
            </a:r>
            <a:br/>
            <a:r>
              <a:t>   - Elevates low-sample boutique venues or unrated anomalies (2,139 unrated venues at 0.0★).</a:t>
            </a:r>
            <a:br/>
            <a:r>
              <a:t>   - Ignores consumer budget constraints completely.</a:t>
            </a:r>
            <a:br/>
            <a:br/>
            <a:r>
              <a:t>3. THE HIDDEN GEM INVISIBILITY:</a:t>
            </a:r>
            <a:br/>
            <a:r>
              <a:t>   - 194 elite restaurants achieve rating &gt;= 4.0 with 53.6% delivery readiness at half the cost (₹800 vs ₹1,400).</a:t>
            </a:r>
            <a:br/>
            <a:r>
              <a:t>   - Because votes &lt; 200, they are pushed beyond page 10 of search results!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E11D48"/>
                </a:solidFill>
                <a:latin typeface="Calibri"/>
              </a:defRPr>
            </a:pPr>
            <a:r>
              <a:t>03 · DATA SOURCE &amp; SCOPE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Strategic Market Scoping, Geographic Concentration, and Schema Ingestion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81328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TOTAL UNIVERSE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9,551 Listings (Global)</a:t>
            </a:r>
            <a:br/>
            <a:r>
              <a:t>15 Sovereign Countries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481328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NATIONAL FOCUS (INDIA)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3736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284C7"/>
                </a:solidFill>
              </a:defRPr>
            </a:pPr>
            <a:r>
              <a:t>8,652 Listings (90.6%)</a:t>
            </a:r>
            <a:br/>
            <a:r>
              <a:t>43 Commercial Cities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481328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SCOPED ANALYTICAL AGGLOMERATION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73736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E11D48"/>
                </a:solidFill>
              </a:defRPr>
            </a:pPr>
            <a:r>
              <a:t>7,947 Delhi-NCR (91.6%)</a:t>
            </a:r>
            <a:br/>
            <a:r>
              <a:t>New Delhi, Gurgaon, Noida, Faridabad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512064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852928"/>
            <a:ext cx="47914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METHODOLOGICAL REASONS FOR DELHI-NCR SCOPING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47548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1. Currency Homogeneity: Global dataset spans 12 currencies (IDR, BRL, AED, USD) without exchange rate parities. NCR operates 100% in Indian Rupee (INR).</a:t>
            </a:r>
            <a:br/>
            <a:br/>
            <a:r>
              <a:t>2. Extreme Geographic Density: 91.6% of Indian restaurants are clustered across Delhi-NCR's contiguous metropolitan dining districts.</a:t>
            </a:r>
            <a:br/>
            <a:br/>
            <a:r>
              <a:t>3. Active Digital Logistics: High penetration of online delivery fleets (2,323 active delivery venues) and table booking infrastructure (1,049 reservation venues).</a:t>
            </a:r>
            <a:br/>
            <a:br/>
            <a:r>
              <a:t>4. Locality Micro-Markets: Rich spatial diversity across 242 unique localities (Connaught Place, GK-1, Cyber Hub, Rajouri Garden).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743200"/>
            <a:ext cx="530352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2852928"/>
            <a:ext cx="49743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INGESTED DATA ATTRIBUTES (21 RAW -&gt; 29 WAREHOUSE)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49377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Entity Identifiers: Restaurant_ID (Natural PK), Restaurant_Name, Address.</a:t>
            </a:r>
            <a:br/>
            <a:r>
              <a:t>• Spatial Geography: Locality, City, Country_Code, Latitude, Longitude, Coordinate Validity Flag.</a:t>
            </a:r>
            <a:br/>
            <a:r>
              <a:t>• Culinary Taxonomy: Cuisines (1,825 multi-label strings), Primary_Cuisine (145 unique), Cuisine_Count.</a:t>
            </a:r>
            <a:br/>
            <a:r>
              <a:t>• Economic Metrics: Average_Cost_Clean (₹50 to ₹8,000), Price_Range (1 to 4), Price_Tier.</a:t>
            </a:r>
            <a:br/>
            <a:r>
              <a:t>• Customer Perception: Aggregate_Rating (0.0 to 4.9), Rating_Text, Rating_Color, Is_Rated Flag.</a:t>
            </a:r>
            <a:br/>
            <a:r>
              <a:t>• Engagement &amp; Proof: Votes (0 to 7,931), Log_Votes, Normalized Social Index.</a:t>
            </a:r>
            <a:br/>
            <a:r>
              <a:t>• Operational Capabilities: Has_Online_Delivery, Has_Table_Booking, Service_Profile (4 categories).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E11D48"/>
                </a:solidFill>
                <a:latin typeface="Calibri"/>
              </a:defRPr>
            </a:pPr>
            <a:r>
              <a:t>04 · ETL PIPELINE &amp; DATA QUALITY REMEDIATION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Automated Python Preprocessing (prepare_zomato_data.py): Six Verified Engineering Interventions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81328"/>
            <a:ext cx="48828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1. MISSING CUISINE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937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9 records had missing/null cuisine strings (0.09%). Imputed as 'Not Specified' and parsed primary cuisine from 1,825 compound multi-label combinations.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2120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481328"/>
            <a:ext cx="48828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2. TWO-STAGE ZERO-COST IMPUTATION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937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18 records globally (9 in India) had cost = 0. Imputed via hierarchical median (City x Price Tier -&gt; Country x Tier) to avoid division-by-zero in budget utility.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27248"/>
            <a:ext cx="48828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3. COLD-START RATING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4937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2,139 listings in NCR (26.9%) had 0.0★ rating. Created 'Is_Rated' flag and 'Rating_Status' to isolate cold-start venues without depressing active mean (3.28★ vs 2.67★).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017520"/>
            <a:ext cx="52120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3127248"/>
            <a:ext cx="48828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4. POWER-LAW REVIEW 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429000"/>
            <a:ext cx="4937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Votes ranged from 0 to 7,931 (median = 19). Applied natural log transform ln(1 + Votes) to compress extreme outliers and reflect diminishing marginal returns of reviews.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2120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773168"/>
            <a:ext cx="48828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5. SPATIAL COORDINATE AUDITING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74920"/>
            <a:ext cx="4937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497 records had invalid (0.0, 0.0) Null Island GPS coordinates. Created 'Has_Valid_Coordinates' flag to prevent map distortion in Tableau dual-axis views.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663440"/>
            <a:ext cx="52120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4773168"/>
            <a:ext cx="48828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6. SERVICE PROFILE SYNTHESIS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074920"/>
            <a:ext cx="4937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Combined fragmented binary columns (Has Delivery, Has Booking) into a unified 4-tier 'Service_Profile' (Both, Delivery Only, Booking Only, Dine-in Only).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E11D48"/>
                </a:solidFill>
                <a:latin typeface="Calibri"/>
              </a:defRPr>
            </a:pPr>
            <a:r>
              <a:t>05 · ENTERPRISE DIMENSIONAL MODEL (STAR SCHEMA)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Ralph Kimball Methodology: Separating Fact Measurements from Conformed Analytical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Zomato_Star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315200" cy="52958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371600"/>
            <a:ext cx="32004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4192" y="1481328"/>
            <a:ext cx="2871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ARCHITECTURAL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8288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1E293B"/>
                </a:solidFill>
              </a:defRPr>
            </a:pPr>
            <a:r>
              <a:t>• FACT TABLE:</a:t>
            </a:r>
            <a:br/>
            <a:r>
              <a:t>  FACT_RESTAURANT_PERFORMANCE</a:t>
            </a:r>
            <a:br/>
            <a:r>
              <a:t>  - Grain: Exactly 1 record per physical restaurant outlet profile.</a:t>
            </a:r>
            <a:br/>
            <a:r>
              <a:t>  - Additive Facts: Listing_Count (=1), Review Votes, Average_Cost_Clean.</a:t>
            </a:r>
            <a:br/>
            <a:r>
              <a:t>  - Semi-Additive / Normalized:</a:t>
            </a:r>
            <a:br/>
            <a:r>
              <a:t>    Aggregate_Rating (0-5), Log_Votes, 0-100 Relevance_Score.</a:t>
            </a:r>
            <a:br/>
            <a:br/>
            <a:r>
              <a:t>• 6 CONFORMED DIMENSIONS:</a:t>
            </a:r>
            <a:br/>
            <a:r>
              <a:t>  1. DIM_RESTAURANT (ID, name, chain)</a:t>
            </a:r>
            <a:br/>
            <a:r>
              <a:t>  2. DIM_LOCATION (Locality, City, GPS)</a:t>
            </a:r>
            <a:br/>
            <a:r>
              <a:t>  3. DIM_CUISINE (Primary, category)</a:t>
            </a:r>
            <a:br/>
            <a:r>
              <a:t>  4. DIM_SERVICE_PROFILE (Delivery, table)</a:t>
            </a:r>
            <a:br/>
            <a:r>
              <a:t>  5. DIM_PRICE_TIER (Tier 1-4, INR range)</a:t>
            </a:r>
            <a:br/>
            <a:r>
              <a:t>  6. DIM_RESTAURANT_SEGMENT (LOD segment)</a:t>
            </a:r>
            <a:br/>
            <a:br/>
            <a:r>
              <a:t>• OLAP CAPABILITIES:</a:t>
            </a:r>
            <a:br/>
            <a:r>
              <a:t>  Sub-second slicing, dicing, and drill-downs without expensive runtime joins in Tableau.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E11D48"/>
                </a:solidFill>
                <a:latin typeface="Calibri"/>
              </a:defRPr>
            </a:pPr>
            <a:r>
              <a:t>06 · MULTI-CRITERIA RELEVANCE UTILITY MODEL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Multi-Attribute Utility Theory (MAUT): Standardizing Dimensions onto a 0–100 Transparent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81328"/>
            <a:ext cx="49743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1. COMPONENT UTILITY FUNCTIONS (0–100 SCALE)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1E293B"/>
                </a:solidFill>
              </a:defRPr>
            </a:pPr>
            <a:r>
              <a:t>• Composite Formula (MAUT Framework):</a:t>
            </a:r>
            <a:br/>
            <a:r>
              <a:t>  Relevance Score = (wr·S_rating + we·S_eng + wa·S_budget + ws·S_serv) / Σw</a:t>
            </a:r>
            <a:br/>
            <a:br/>
            <a:r>
              <a:t>1. Perceived Quality (S_rating):</a:t>
            </a:r>
            <a:br/>
            <a:r>
              <a:t>   S_rating = (Aggregate_Rating / 5.0) * 100.0</a:t>
            </a:r>
            <a:br/>
            <a:r>
              <a:t>   (Maps 3.0★ -&gt; 60 pts, 4.0★ -&gt; 80 pts, 4.9★ -&gt; 98 pts)</a:t>
            </a:r>
            <a:br/>
            <a:br/>
            <a:r>
              <a:t>2. Social Proof / Engagement (S_eng):</a:t>
            </a:r>
            <a:br/>
            <a:r>
              <a:t>   S_eng = [ln(1 + Votes) / ln(1 + 7931)] * 100.0</a:t>
            </a:r>
            <a:br/>
            <a:r>
              <a:t>   (Log-scaled: 20 votes -&gt; 33.9 pts, 100 -&gt; 51.4 pts, 7,931 -&gt; 100 pts)</a:t>
            </a:r>
            <a:br/>
            <a:br/>
            <a:r>
              <a:t>3. Piecewise Budget Fit (S_budget):</a:t>
            </a:r>
            <a:br/>
            <a:r>
              <a:t>   - If Cost &lt;= Budget: 100 pts</a:t>
            </a:r>
            <a:br/>
            <a:r>
              <a:t>   - If Budget &lt; Cost &lt;= 2*Budget: 100 - 100 * [(Cost - Budget)/Budget]</a:t>
            </a:r>
            <a:br/>
            <a:r>
              <a:t>   - If Cost &gt; 2*Budget: 0 pts (Continuous piecewise linear penalty)</a:t>
            </a:r>
            <a:br/>
            <a:br/>
            <a:r>
              <a:t>4. Service Utility (S_serv):</a:t>
            </a:r>
            <a:br/>
            <a:r>
              <a:t>   20 (Base dine-in) + 50 (if Online Delivery) + 30 (if Table Booking)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81328"/>
            <a:ext cx="48828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2. USER PERSONA PRESETS (% ALLOCATION)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1E293B"/>
                </a:solidFill>
              </a:defRPr>
            </a:pPr>
            <a:r>
              <a:t>Users toggle priorities via Tableau Parameter [p Preset]:</a:t>
            </a:r>
            <a:br/>
            <a:br/>
            <a:r>
              <a:t>• BALANCED DISCOVERY (Default):</a:t>
            </a:r>
            <a:br/>
            <a:r>
              <a:t>  - Quality: 40% | Popularity: 25% | Budget: 20% | Service: 15%</a:t>
            </a:r>
            <a:br/>
            <a:r>
              <a:t>  - Purpose: General discovery balancing quality, proof, and spend.</a:t>
            </a:r>
            <a:br/>
            <a:br/>
            <a:r>
              <a:t>• GOURMET / QUALITY-FIRST:</a:t>
            </a:r>
            <a:br/>
            <a:r>
              <a:t>  - Quality: 60% | Popularity: 25% | Budget: 5% | Service: 10%</a:t>
            </a:r>
            <a:br/>
            <a:r>
              <a:t>  - Purpose: Elite dining enthusiasts where budget is secondary.</a:t>
            </a:r>
            <a:br/>
            <a:br/>
            <a:r>
              <a:t>• BUDGET HUNTER (Cost-Focused):</a:t>
            </a:r>
            <a:br/>
            <a:r>
              <a:t>  - Quality: 25% | Popularity: 15% | Budget: 50% | Service: 10%</a:t>
            </a:r>
            <a:br/>
            <a:r>
              <a:t>  - Purpose: Maximizes value per Rupee within strict budgets.</a:t>
            </a:r>
            <a:br/>
            <a:br/>
            <a:r>
              <a:t>• DELIVERY &amp; CONVENIENCE FOCUS:</a:t>
            </a:r>
            <a:br/>
            <a:r>
              <a:t>  - Quality: 25% | Popularity: 15% | Budget: 20% | Service: 40%</a:t>
            </a:r>
            <a:br/>
            <a:r>
              <a:t>  - Purpose: Fast immediate meal ordering prioritizing delivery fleet.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E11D48"/>
                </a:solidFill>
                <a:latin typeface="Calibri"/>
              </a:defRPr>
            </a:pPr>
            <a:r>
              <a:t>07 · DASHBOARD 1: ECOSYSTEM &amp; SPATIAL LANDSCAPE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Macro Market Inventory Exploration, Geographical Clustering &amp; Culinary Concentration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7_img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19579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11312" y="1481328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KEY VISUALIZATIONS &amp;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28800"/>
            <a:ext cx="31089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80">
                <a:solidFill>
                  <a:srgbClr val="1E293B"/>
                </a:solidFill>
              </a:defRPr>
            </a:pPr>
            <a:r>
              <a:t>• Executive BAN Cards (Top):</a:t>
            </a:r>
            <a:br/>
            <a:r>
              <a:t>  - Total Restaurants: 7,947</a:t>
            </a:r>
            <a:br/>
            <a:r>
              <a:t>  - Active Mean Rating: 3.28★</a:t>
            </a:r>
            <a:br/>
            <a:r>
              <a:t>  - Median Cost for Two: ₹450</a:t>
            </a:r>
            <a:br/>
            <a:r>
              <a:t>  - Total Reviews: 842,840</a:t>
            </a:r>
            <a:br/>
            <a:br/>
            <a:r>
              <a:t>• Dual-Axis Spatial Map (Lab 4):</a:t>
            </a:r>
            <a:br/>
            <a:r>
              <a:t>  Synchronizes regional city density polygons with circle markers sized by review votes and colored by Price Tier.</a:t>
            </a:r>
            <a:br/>
            <a:br/>
            <a:r>
              <a:t>• Primary Cuisine Treemap (Lab 6):</a:t>
            </a:r>
            <a:br/>
            <a:r>
              <a:t>  North Indian dominates with 2,759 listings (34.7%), followed by Chinese (783) and Fast Food (632).</a:t>
            </a:r>
            <a:br/>
            <a:br/>
            <a:r>
              <a:t>• Cost Histogram (Lab 3):</a:t>
            </a:r>
            <a:br/>
            <a:r>
              <a:t>  Over 75% of restaurants are priced below ₹650 for two.</a:t>
            </a:r>
            <a:br/>
            <a:br/>
            <a:r>
              <a:t>• Cross-Filtering:</a:t>
            </a:r>
            <a:br/>
            <a:r>
              <a:t>  Clicking any cuisine block filters the map and cost histogram dynamically!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E11D48"/>
                </a:solidFill>
                <a:latin typeface="Calibri"/>
              </a:defRPr>
            </a:pPr>
            <a:r>
              <a:t>08 · DASHBOARD 2: STRATEGIC RESTAURANT SEGMENTATION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Exposing the '5-Star Trap' and Identifying High-Delight 'Hidden Gems' via Level of Detail (LOD)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8_img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0712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11312" y="1481328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LOD ANALYSIS &amp;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28800"/>
            <a:ext cx="31089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">
                <a:solidFill>
                  <a:srgbClr val="1E293B"/>
                </a:solidFill>
              </a:defRPr>
            </a:pPr>
            <a:r>
              <a:t>• Fixed LOD Benchmark (Lab 7.2):</a:t>
            </a:r>
            <a:br/>
            <a:r>
              <a:t>  { FIXED [Locality] : AVG([Average_Cost_Clean]) }</a:t>
            </a:r>
            <a:br/>
            <a:r>
              <a:t>  Computes immutable neighborhood baselines independent of sheet filters.</a:t>
            </a:r>
            <a:br/>
            <a:br/>
            <a:r>
              <a:t>• 4 Operational Quadrants:</a:t>
            </a:r>
            <a:br/>
            <a:r>
              <a:t>  1. Market Leaders (262): High rating, votes &gt;= 200, median cost ₹1,400.</a:t>
            </a:r>
            <a:br/>
            <a:r>
              <a:t>  2. Hidden Gems (194): Rating &gt;= 4.0, votes &lt; 200, median cost ₹800, 53.6% delivery readiness!</a:t>
            </a:r>
            <a:br/>
            <a:r>
              <a:t>  3. Popular Volume Drivers (619): Moderate rating, votes &gt;= 200.</a:t>
            </a:r>
            <a:br/>
            <a:r>
              <a:t>  4. Underperformers (1,421): Rating &lt; 3.0.</a:t>
            </a:r>
            <a:br/>
            <a:br/>
            <a:r>
              <a:t>• Top Localities for Hidden Gems:</a:t>
            </a:r>
            <a:br/>
            <a:r>
              <a:t>  - Rajouri Garden: 13 Gems</a:t>
            </a:r>
            <a:br/>
            <a:r>
              <a:t>  - Greater Kailash 1: 13 Gems</a:t>
            </a:r>
            <a:br/>
            <a:r>
              <a:t>  - Shahpur Jat: 7 Gems</a:t>
            </a:r>
            <a:br/>
            <a:r>
              <a:t>  - Malviya Nagar: 6 Gems</a:t>
            </a:r>
            <a:br/>
            <a:br/>
            <a:r>
              <a:t>• Price-Rating Heatmap Matrix:</a:t>
            </a:r>
            <a:br/>
            <a:r>
              <a:t>  Weak correlation (r = 0.301) proves high prices do NOT ensure superior quality!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E11D48"/>
                </a:solidFill>
                <a:latin typeface="Calibri"/>
              </a:defRPr>
            </a:pPr>
            <a:r>
              <a:t>09 · DASHBOARD 3: PERSONALIZED RANKING SIMULATOR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Interactive Decision Engine: User Parameter Controls, Top-N Table &amp; Score Decomposition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9_img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13279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11312" y="1481328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SIMULATOR CONTROLS &amp; WIDGETS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28800"/>
            <a:ext cx="31089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">
                <a:solidFill>
                  <a:srgbClr val="1E293B"/>
                </a:solidFill>
              </a:defRPr>
            </a:pPr>
            <a:r>
              <a:t>• Dynamic Control Panel (Left):</a:t>
            </a:r>
            <a:br/>
            <a:r>
              <a:t>  - Target Budget Slider [p Budget]: ₹100 to ₹5,000.</a:t>
            </a:r>
            <a:br/>
            <a:r>
              <a:t>  - Persona Presets [p Preset]: Toggles 4 priority profiles.</a:t>
            </a:r>
            <a:br/>
            <a:r>
              <a:t>  - Minimum Rating Slider [p Min Rating].</a:t>
            </a:r>
            <a:br/>
            <a:r>
              <a:t>  - Recommendation Depth [p Top N].</a:t>
            </a:r>
            <a:br/>
            <a:br/>
            <a:r>
              <a:t>• Live Ranked Output Table (Lab 7.1):</a:t>
            </a:r>
            <a:br/>
            <a:r>
              <a:t>  Displays RANK_UNIQUE driven dynamically by [Relevance Score].</a:t>
            </a:r>
            <a:br/>
            <a:br/>
            <a:r>
              <a:t>• Score Decomposition Stacked Bar:</a:t>
            </a:r>
            <a:br/>
            <a:r>
              <a:t>  Visually explains the exact points contributed by Quality, Popularity, Budget, and Service to prevent black-box opacity.</a:t>
            </a:r>
            <a:br/>
            <a:br/>
            <a:r>
              <a:t>• What-If Rank Divergence Benchmark:</a:t>
            </a:r>
            <a:br/>
            <a:r>
              <a:t>  Directly compares Traditional Rank (votes) vs. Relevance Rank for the same establishment 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E11D48"/>
                </a:solidFill>
                <a:latin typeface="Calibri"/>
              </a:defRPr>
            </a:pPr>
            <a:r>
              <a:t>10 · EMPIRICAL BENCHMARK &amp; BUSINESS RECOMMENDATIONS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Quantitative Proof Under ₹800 Budget Simulation &amp; Actionable Recommendations for Zomato Leadership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81328"/>
            <a:ext cx="49743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1. SIMULATION BENCHMARK (BUDGET = ₹800, BALANCED)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Simulating a typical middle-income dining budget of ₹800:</a:t>
            </a:r>
            <a:br/>
            <a:br/>
            <a:r>
              <a:t>• AVERAGE TOP 10 DINING COST:</a:t>
            </a:r>
            <a:br/>
            <a:r>
              <a:t>  - Traditional Sort: ₹1,470 for two</a:t>
            </a:r>
            <a:br/>
            <a:r>
              <a:t>  - Proposed Relevance Engine: ₹515 for two</a:t>
            </a:r>
            <a:br/>
            <a:r>
              <a:t>  - Business Impact: 64.9% COST REDUCTION (Guarantees budget compliance!)</a:t>
            </a:r>
            <a:br/>
            <a:br/>
            <a:r>
              <a:t>• ONLINE HOME DELIVERY READINESS:</a:t>
            </a:r>
            <a:br/>
            <a:r>
              <a:t>  - Traditional Sort: 30.0% (Only 3 out of 10 deliver)</a:t>
            </a:r>
            <a:br/>
            <a:r>
              <a:t>  - Proposed Relevance Engine: 100.0% (10 out of 10 deliver)</a:t>
            </a:r>
            <a:br/>
            <a:r>
              <a:t>  - Business Impact: +70% LIFT (Eliminates delivery drop-off)</a:t>
            </a:r>
            <a:br/>
            <a:br/>
            <a:r>
              <a:t>• CUSTOMER SATISFACTION (RATING):</a:t>
            </a:r>
            <a:br/>
            <a:r>
              <a:t>  - Traditional Sort: 4.25 / 5.0★</a:t>
            </a:r>
            <a:br/>
            <a:r>
              <a:t>  - Proposed Relevance Engine: 4.28 / 5.0★ (+0.03 lift)</a:t>
            </a:r>
            <a:br/>
            <a:br/>
            <a:r>
              <a:t>• LIST DIVERSITY &amp; OVERLAP:</a:t>
            </a:r>
            <a:br/>
            <a:r>
              <a:t>  - Overlap: Only 1 in 10 (Saravana Bhavan)</a:t>
            </a:r>
            <a:br/>
            <a:r>
              <a:t>  - 9 fresh, accessible local discoveries surfaced!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81328"/>
            <a:ext cx="48828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2. FOUR ACTIONABLE BUSINESS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80">
                <a:solidFill>
                  <a:srgbClr val="1E293B"/>
                </a:solidFill>
              </a:defRPr>
            </a:pPr>
            <a:r>
              <a:t>1. DYNAMIC MULTI-SLIDER DISCOVERY UI:</a:t>
            </a:r>
            <a:br/>
            <a:r>
              <a:t>   - Action: Replace 1D sorting with user priority sliders.</a:t>
            </a:r>
            <a:br/>
            <a:r>
              <a:t>   - Expected Benefit: 12% reduction in search session bounce rate.</a:t>
            </a:r>
            <a:br/>
            <a:r>
              <a:t>   - KPI: Search-to-Cart Conversion Rate (%).</a:t>
            </a:r>
            <a:br/>
            <a:br/>
            <a:r>
              <a:t>2. 'HIDDEN GEM' ALGORITHMIC CAROUSELS:</a:t>
            </a:r>
            <a:br/>
            <a:r>
              <a:t>   - Action: Deploy dedicated homepage carousels for venues with rating &gt;= 4.0 and votes &gt;= 30.</a:t>
            </a:r>
            <a:br/>
            <a:r>
              <a:t>   - Expected Benefit: 20% first-order lift for new merchants.</a:t>
            </a:r>
            <a:br/>
            <a:r>
              <a:t>   - KPI: 90-Day New Merchant Retention Rate (%).</a:t>
            </a:r>
            <a:br/>
            <a:br/>
            <a:r>
              <a:t>3. INTENT-DECOUPLED SEARCH FEEDS:</a:t>
            </a:r>
            <a:br/>
            <a:r>
              <a:t>   - Action: Separate Delivery Mode from Dine-Out Mode.</a:t>
            </a:r>
            <a:br/>
            <a:r>
              <a:t>   - Expected Benefit: Immediate 2x lift in delivery checkout.</a:t>
            </a:r>
            <a:br/>
            <a:br/>
            <a:r>
              <a:t>4. 'EXCEPTIONAL VALUE' LOCAL BADGING:</a:t>
            </a:r>
            <a:br/>
            <a:r>
              <a:t>   - Action: Award badges to venues with rating &gt;= 4.0 priced below locality LOD averages.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E11D48"/>
                </a:solidFill>
                <a:latin typeface="Calibri"/>
              </a:defRPr>
            </a:pPr>
            <a:r>
              <a:t>11 · CONCLUSION, LIMITATIONS &amp; VIVA VOCE DEFENSE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Technical Summary, Honest Disclosure of Boundaries, and High-Yield Evaluator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81328"/>
            <a:ext cx="48828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TECHNICAL ACHIEVEMENTS (CIA IIIB)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9377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80">
                <a:solidFill>
                  <a:srgbClr val="1E293B"/>
                </a:solidFill>
              </a:defRPr>
            </a:pPr>
            <a:r>
              <a:t>• Automated ETL Pipeline: Resolved missing cuisines, zero-costs, cold-start flags, and log-scaled power-law engagement.</a:t>
            </a:r>
            <a:br/>
            <a:r>
              <a:t>• Kimball Star Schema: 1 fact table at outlet grain + 6 conformed dimensions.</a:t>
            </a:r>
            <a:br/>
            <a:r>
              <a:t>• Multi-Dimensional OLAP: Enabled roll-up, drill-down, slicing, and dicing.</a:t>
            </a:r>
            <a:br/>
            <a:r>
              <a:t>• Interactive Tableau System: 3 linked dashboards with LOD benchmarking.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81328"/>
            <a:ext cx="48828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ACADEMIC HONESTY &amp;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49377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80">
                <a:solidFill>
                  <a:srgbClr val="1E293B"/>
                </a:solidFill>
              </a:defRPr>
            </a:pPr>
            <a:r>
              <a:t>• Cross-Sectional Snapshot: Lacks temporal timestamps or historical orders.</a:t>
            </a:r>
            <a:br/>
            <a:r>
              <a:t>• Absence of Clickstream: No private user CTR logs to train neural re-rankers.</a:t>
            </a:r>
            <a:br/>
            <a:r>
              <a:t>• Prototype Scope: This is an interpretable decision support system, NOT a reproduction of Zomato's proprietary machine learning algorithm.</a:t>
            </a:r>
            <a:br/>
            <a:r>
              <a:t>• Future Scope: Integrate live GPS routing APIs and candidate embeddings.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41648"/>
            <a:ext cx="103692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VIVA VOCE DEFENSE: CORE EVALUATOR QUESTIONS &amp; TECHNICAL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97680"/>
            <a:ext cx="104241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Q1: Why Star Schema over 3NF? -&gt; Eliminates 6+ runtime joins; optimizes columnar aggregations for instant Tableau rendering.</a:t>
            </a:r>
            <a:br/>
            <a:r>
              <a:t>Q2: What is the Fact Grain? -&gt; Exactly 1 row per physical restaurant outlet listing profile.</a:t>
            </a:r>
            <a:br/>
            <a:r>
              <a:t>Q3: Why Log-Transform Votes? -&gt; Compresses extreme power law (median 19 vs max 7,931), modeling diminishing marginal utility.</a:t>
            </a:r>
            <a:br/>
            <a:r>
              <a:t>Q4: Why Fixed LOD (Lab 7.2)? -&gt; Computes stable locality benchmarks independent of visualization filter shelves.</a:t>
            </a:r>
            <a:br/>
            <a:r>
              <a:t>Q5: Why exclude Lab 8 (Forecasting)? -&gt; Academic integrity: dataset has zero date fields; fabricating dates violates university ethics.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